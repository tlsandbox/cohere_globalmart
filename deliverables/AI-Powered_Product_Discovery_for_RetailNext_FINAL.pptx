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business framing: RetailNext has a findability problem, not a product assortment problem. Position the solution as a practical way to convert intent into purchasable items 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assumptions from discovery: poor reviews are concentrated in event-driven shopping journeys and long-tail style requests. Current keyword search and manual associate lookup create friction and missed conversions.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what was built: text search, image match, and the added Check Your Match feature. Use the screenshot as proof that the experience is functional end-to-end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platform mapping to business function: vision for intent extraction, embeddings for retrieval, and response reasoning for explanation. Highlight that each model call has a specific job in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architecture left to right: touchpoint, API orchestration, AI/data services. Mention persistence in SQLite for sessions and match checks to support analytics and future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Narrate the exact request lifecycle. Emphasize that image and text converge into the same semantic retrieval path, which keeps implementation simple and scalable.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 these as pilot KPI targets, not guaranteed outcomes. Tie each KPI to a measurable mechanism in the built product (relevance, speed, confidence).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risk-managed execution: foundation, pilot, optimization, scale. Point out feedback loops and A/B testing before broad rollout.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OpenAI as the enabling platform: unified APIs, enterprise control patterns, and rapid developer iteration. Avoid abstract hype; tie claims back to what was implemented in this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with concrete next steps and role clarity for the onsite format. Invite questions on architecture decisions, metrics assumptions, and rollout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428625"/>
            <a:ext cx="1000125" cy="25003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4375" y="1201601"/>
            <a:ext cx="6429375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RetailNext Outfit Assistant: AI-Powered Product Discovery</a:t>
            </a:r>
          </a:p>
        </p:txBody>
      </p:sp>
      <p:sp>
        <p:nvSpPr>
          <p:cNvPr id="5" name="Text 1"/>
          <p:cNvSpPr/>
          <p:nvPr/>
        </p:nvSpPr>
        <p:spPr>
          <a:xfrm>
            <a:off x="714375" y="3301864"/>
            <a:ext cx="571500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Executive + CTO briefing for reducing product-findability complaints using multimodal search and match intelligence.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28625"/>
            <a:ext cx="714375" cy="17859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4375" y="571500"/>
            <a:ext cx="77152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Business Situation at RetailNext</a:t>
            </a:r>
          </a:p>
        </p:txBody>
      </p:sp>
      <p:sp>
        <p:nvSpPr>
          <p:cNvPr id="5" name="Shape 1"/>
          <p:cNvSpPr/>
          <p:nvPr/>
        </p:nvSpPr>
        <p:spPr>
          <a:xfrm>
            <a:off x="714375" y="1466255"/>
            <a:ext cx="2428875" cy="2857500"/>
          </a:xfrm>
          <a:prstGeom prst="rect">
            <a:avLst/>
          </a:prstGeom>
          <a:solidFill>
            <a:srgbClr val="1A2F1A"/>
          </a:solidFill>
          <a:ln/>
        </p:spPr>
      </p:sp>
      <p:sp>
        <p:nvSpPr>
          <p:cNvPr id="6" name="Shape 2"/>
          <p:cNvSpPr/>
          <p:nvPr/>
        </p:nvSpPr>
        <p:spPr>
          <a:xfrm>
            <a:off x="714375" y="1466255"/>
            <a:ext cx="2428875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3"/>
          <p:cNvSpPr/>
          <p:nvPr/>
        </p:nvSpPr>
        <p:spPr>
          <a:xfrm>
            <a:off x="1000125" y="1752005"/>
            <a:ext cx="185737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Problem 1</a:t>
            </a:r>
          </a:p>
        </p:txBody>
      </p:sp>
      <p:sp>
        <p:nvSpPr>
          <p:cNvPr id="8" name="Text 4"/>
          <p:cNvSpPr/>
          <p:nvPr/>
        </p:nvSpPr>
        <p:spPr>
          <a:xfrm>
            <a:off x="1000125" y="2691408"/>
            <a:ext cx="1857375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Findability</a:t>
            </a:r>
          </a:p>
        </p:txBody>
      </p:sp>
      <p:sp>
        <p:nvSpPr>
          <p:cNvPr id="9" name="Text 5"/>
          <p:cNvSpPr/>
          <p:nvPr/>
        </p:nvSpPr>
        <p:spPr>
          <a:xfrm>
            <a:off x="1000125" y="3266480"/>
            <a:ext cx="185737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Recent customer reviews cite difficulty finding updated styles or specific items before upcoming events.</a:t>
            </a:r>
          </a:p>
        </p:txBody>
      </p:sp>
      <p:sp>
        <p:nvSpPr>
          <p:cNvPr id="10" name="Shape 6"/>
          <p:cNvSpPr/>
          <p:nvPr/>
        </p:nvSpPr>
        <p:spPr>
          <a:xfrm>
            <a:off x="3357563" y="1466255"/>
            <a:ext cx="2428875" cy="2857500"/>
          </a:xfrm>
          <a:prstGeom prst="rect">
            <a:avLst/>
          </a:prstGeom>
          <a:solidFill>
            <a:srgbClr val="1E1A2F"/>
          </a:solidFill>
          <a:ln/>
        </p:spPr>
      </p:sp>
      <p:sp>
        <p:nvSpPr>
          <p:cNvPr id="11" name="Shape 7"/>
          <p:cNvSpPr/>
          <p:nvPr/>
        </p:nvSpPr>
        <p:spPr>
          <a:xfrm>
            <a:off x="3357563" y="1466255"/>
            <a:ext cx="2428875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8"/>
          <p:cNvSpPr/>
          <p:nvPr/>
        </p:nvSpPr>
        <p:spPr>
          <a:xfrm>
            <a:off x="3643313" y="1752005"/>
            <a:ext cx="185737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Problem 2</a:t>
            </a:r>
          </a:p>
        </p:txBody>
      </p:sp>
      <p:sp>
        <p:nvSpPr>
          <p:cNvPr id="13" name="Text 9"/>
          <p:cNvSpPr/>
          <p:nvPr/>
        </p:nvSpPr>
        <p:spPr>
          <a:xfrm>
            <a:off x="3643313" y="2925366"/>
            <a:ext cx="1857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Intent Gap</a:t>
            </a:r>
          </a:p>
        </p:txBody>
      </p:sp>
      <p:sp>
        <p:nvSpPr>
          <p:cNvPr id="14" name="Text 10"/>
          <p:cNvSpPr/>
          <p:nvPr/>
        </p:nvSpPr>
        <p:spPr>
          <a:xfrm>
            <a:off x="3643313" y="3266480"/>
            <a:ext cx="185737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Shoppers describe looks in natural language or photos; keyword/filter search misses this intent.</a:t>
            </a:r>
          </a:p>
        </p:txBody>
      </p:sp>
      <p:sp>
        <p:nvSpPr>
          <p:cNvPr id="15" name="Shape 11"/>
          <p:cNvSpPr/>
          <p:nvPr/>
        </p:nvSpPr>
        <p:spPr>
          <a:xfrm>
            <a:off x="6000750" y="1466255"/>
            <a:ext cx="2428875" cy="2857500"/>
          </a:xfrm>
          <a:prstGeom prst="rect">
            <a:avLst/>
          </a:prstGeom>
          <a:solidFill>
            <a:srgbClr val="2F1A1A"/>
          </a:solidFill>
          <a:ln/>
        </p:spPr>
      </p:sp>
      <p:sp>
        <p:nvSpPr>
          <p:cNvPr id="16" name="Shape 12"/>
          <p:cNvSpPr/>
          <p:nvPr/>
        </p:nvSpPr>
        <p:spPr>
          <a:xfrm>
            <a:off x="6000750" y="1466255"/>
            <a:ext cx="2428875" cy="28575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3"/>
          <p:cNvSpPr/>
          <p:nvPr/>
        </p:nvSpPr>
        <p:spPr>
          <a:xfrm>
            <a:off x="6286500" y="1752005"/>
            <a:ext cx="185737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Problem 3</a:t>
            </a:r>
          </a:p>
        </p:txBody>
      </p:sp>
      <p:sp>
        <p:nvSpPr>
          <p:cNvPr id="18" name="Text 14"/>
          <p:cNvSpPr/>
          <p:nvPr/>
        </p:nvSpPr>
        <p:spPr>
          <a:xfrm>
            <a:off x="6286500" y="2925366"/>
            <a:ext cx="18573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Store Burden</a:t>
            </a:r>
          </a:p>
        </p:txBody>
      </p:sp>
      <p:sp>
        <p:nvSpPr>
          <p:cNvPr id="19" name="Text 15"/>
          <p:cNvSpPr/>
          <p:nvPr/>
        </p:nvSpPr>
        <p:spPr>
          <a:xfrm>
            <a:off x="6286500" y="3266480"/>
            <a:ext cx="185737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Associates spend time manually translating vague requests into inventory searches, slowing conversion.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7231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28625"/>
            <a:ext cx="714375" cy="17859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4375" y="571500"/>
            <a:ext cx="3429000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What We Built (Demo Ready Today)</a:t>
            </a:r>
          </a:p>
        </p:txBody>
      </p:sp>
      <p:sp>
        <p:nvSpPr>
          <p:cNvPr id="5" name="Text 1"/>
          <p:cNvSpPr/>
          <p:nvPr/>
        </p:nvSpPr>
        <p:spPr>
          <a:xfrm>
            <a:off x="714375" y="1845878"/>
            <a:ext cx="3429000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A full-stack prototype built from the OpenAI cookbook sample_clothes dataset and extended for RetailNext.</a:t>
            </a:r>
          </a:p>
        </p:txBody>
      </p:sp>
      <p:sp>
        <p:nvSpPr>
          <p:cNvPr id="6" name="Text 2"/>
          <p:cNvSpPr/>
          <p:nvPr/>
        </p:nvSpPr>
        <p:spPr>
          <a:xfrm>
            <a:off x="871538" y="2599544"/>
            <a:ext cx="32718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Natural-Language Query Search</a:t>
            </a:r>
          </a:p>
        </p:txBody>
      </p:sp>
      <p:sp>
        <p:nvSpPr>
          <p:cNvPr id="7" name="Text 3"/>
          <p:cNvSpPr/>
          <p:nvPr/>
        </p:nvSpPr>
        <p:spPr>
          <a:xfrm>
            <a:off x="871538" y="2829930"/>
            <a:ext cx="32718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Bob types intent (for example: 'my wife wants a sakura season t shirt') and receives ranked similar items.</a:t>
            </a:r>
          </a:p>
        </p:txBody>
      </p:sp>
      <p:sp>
        <p:nvSpPr>
          <p:cNvPr id="8" name="Text 4"/>
          <p:cNvSpPr/>
          <p:nvPr/>
        </p:nvSpPr>
        <p:spPr>
          <a:xfrm>
            <a:off x="871538" y="3328541"/>
            <a:ext cx="32718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Image Upload Match</a:t>
            </a:r>
          </a:p>
        </p:txBody>
      </p:sp>
      <p:sp>
        <p:nvSpPr>
          <p:cNvPr id="9" name="Text 5"/>
          <p:cNvSpPr/>
          <p:nvPr/>
        </p:nvSpPr>
        <p:spPr>
          <a:xfrm>
            <a:off x="871538" y="3558927"/>
            <a:ext cx="32718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Customer uploads a photo; vision analysis extracts style attributes and generates retrieval-ready search queries.</a:t>
            </a:r>
          </a:p>
        </p:txBody>
      </p:sp>
      <p:sp>
        <p:nvSpPr>
          <p:cNvPr id="10" name="Text 6"/>
          <p:cNvSpPr/>
          <p:nvPr/>
        </p:nvSpPr>
        <p:spPr>
          <a:xfrm>
            <a:off x="871538" y="4057538"/>
            <a:ext cx="327183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AI Match Explainability (Added Feature)</a:t>
            </a:r>
          </a:p>
        </p:txBody>
      </p:sp>
      <p:sp>
        <p:nvSpPr>
          <p:cNvPr id="11" name="Text 7"/>
          <p:cNvSpPr/>
          <p:nvPr/>
        </p:nvSpPr>
        <p:spPr>
          <a:xfrm>
            <a:off x="871538" y="4287924"/>
            <a:ext cx="32718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'Check Your Match' returns verdict, rationale, and confidence for each item and persists results for follow-up.</a:t>
            </a:r>
          </a:p>
        </p:txBody>
      </p:sp>
      <p:sp>
        <p:nvSpPr>
          <p:cNvPr id="12" name="Shape 8"/>
          <p:cNvSpPr/>
          <p:nvPr/>
        </p:nvSpPr>
        <p:spPr>
          <a:xfrm>
            <a:off x="5072063" y="893080"/>
            <a:ext cx="2857500" cy="3571875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214938" y="1035955"/>
            <a:ext cx="2571750" cy="21431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/>
        </p:txBody>
      </p:sp>
      <p:sp>
        <p:nvSpPr>
          <p:cNvPr id="14" name="Shape 10"/>
          <p:cNvSpPr/>
          <p:nvPr/>
        </p:nvSpPr>
        <p:spPr>
          <a:xfrm>
            <a:off x="5600700" y="1393143"/>
            <a:ext cx="2185988" cy="49431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Text 11"/>
          <p:cNvSpPr/>
          <p:nvPr/>
        </p:nvSpPr>
        <p:spPr>
          <a:xfrm>
            <a:off x="5600700" y="1393143"/>
            <a:ext cx="2185988" cy="49431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/>
        </p:txBody>
      </p:sp>
      <p:sp>
        <p:nvSpPr>
          <p:cNvPr id="16" name="Shape 12"/>
          <p:cNvSpPr/>
          <p:nvPr/>
        </p:nvSpPr>
        <p:spPr>
          <a:xfrm>
            <a:off x="5214938" y="1994613"/>
            <a:ext cx="2185988" cy="1068605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214938" y="1994613"/>
            <a:ext cx="2185988" cy="106860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/>
        </p:txBody>
      </p:sp>
      <p:sp>
        <p:nvSpPr>
          <p:cNvPr id="18" name="Text 14"/>
          <p:cNvSpPr/>
          <p:nvPr/>
        </p:nvSpPr>
        <p:spPr>
          <a:xfrm>
            <a:off x="5214938" y="4036330"/>
            <a:ext cx="2571750" cy="285750"/>
          </a:xfrm>
          <a:prstGeom prst="rect">
            <a:avLst/>
          </a:prstGeom>
          <a:noFill/>
          <a:ln/>
        </p:spPr>
        <p:txBody>
          <a:bodyPr wrap="square" lIns="127508" tIns="0" rIns="127508" bIns="0" rtlCol="0" anchor="t">
            <a:spAutoFit/>
          </a:bodyPr>
          <a:lstStyle/>
          <a:p/>
        </p:txBody>
      </p:sp>
      <p:pic>
        <p:nvPicPr>
          <p:cNvPr id="19" name="Picture 18" descr="05_image_match_resul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0000" y="1120000"/>
            <a:ext cx="3520000" cy="2180000"/>
          </a:xfrm>
          <a:prstGeom prst="rect">
            <a:avLst/>
          </a:prstGeom>
        </p:spPr>
      </p:pic>
      <p:pic>
        <p:nvPicPr>
          <p:cNvPr id="20" name="Picture 19" descr="04_upload_mod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0000" y="3360000"/>
            <a:ext cx="2760000" cy="152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28625"/>
            <a:ext cx="714375" cy="17859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4375" y="571500"/>
            <a:ext cx="77152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OpenAI Platform Used in This Solution</a:t>
            </a:r>
          </a:p>
        </p:txBody>
      </p:sp>
      <p:sp>
        <p:nvSpPr>
          <p:cNvPr id="5" name="Text 1"/>
          <p:cNvSpPr/>
          <p:nvPr/>
        </p:nvSpPr>
        <p:spPr>
          <a:xfrm>
            <a:off x="714375" y="1634468"/>
            <a:ext cx="2381241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Multimodal Understanding</a:t>
            </a:r>
          </a:p>
        </p:txBody>
      </p:sp>
      <p:sp>
        <p:nvSpPr>
          <p:cNvPr id="6" name="Text 2"/>
          <p:cNvSpPr/>
          <p:nvPr/>
        </p:nvSpPr>
        <p:spPr>
          <a:xfrm>
            <a:off x="714375" y="2330983"/>
            <a:ext cx="23812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Model: gpt-4o-mini</a:t>
            </a:r>
          </a:p>
        </p:txBody>
      </p:sp>
      <p:sp>
        <p:nvSpPr>
          <p:cNvPr id="7" name="Text 3"/>
          <p:cNvSpPr/>
          <p:nvPr/>
        </p:nvSpPr>
        <p:spPr>
          <a:xfrm>
            <a:off x="714375" y="2664954"/>
            <a:ext cx="23812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Analyzes uploaded outfit images and returns structured JSON (gender, occasion, colors, article types, search queries).</a:t>
            </a:r>
          </a:p>
        </p:txBody>
      </p:sp>
      <p:sp>
        <p:nvSpPr>
          <p:cNvPr id="8" name="Text 4"/>
          <p:cNvSpPr/>
          <p:nvPr/>
        </p:nvSpPr>
        <p:spPr>
          <a:xfrm>
            <a:off x="714375" y="4266605"/>
            <a:ext cx="2381241" cy="30539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r>
              <a:t>Key Capability: Vision + Structured Output</a:t>
            </a:r>
          </a:p>
        </p:txBody>
      </p:sp>
      <p:sp>
        <p:nvSpPr>
          <p:cNvPr id="9" name="Text 5"/>
          <p:cNvSpPr/>
          <p:nvPr/>
        </p:nvSpPr>
        <p:spPr>
          <a:xfrm>
            <a:off x="3381366" y="1634468"/>
            <a:ext cx="238124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Semantic Retrieval</a:t>
            </a:r>
          </a:p>
        </p:txBody>
      </p:sp>
      <p:sp>
        <p:nvSpPr>
          <p:cNvPr id="10" name="Text 6"/>
          <p:cNvSpPr/>
          <p:nvPr/>
        </p:nvSpPr>
        <p:spPr>
          <a:xfrm>
            <a:off x="3381366" y="2018444"/>
            <a:ext cx="23812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Model: text-embedding-3-large</a:t>
            </a:r>
          </a:p>
        </p:txBody>
      </p:sp>
      <p:sp>
        <p:nvSpPr>
          <p:cNvPr id="11" name="Text 7"/>
          <p:cNvSpPr/>
          <p:nvPr/>
        </p:nvSpPr>
        <p:spPr>
          <a:xfrm>
            <a:off x="3381366" y="2352415"/>
            <a:ext cx="23812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Embeds shopper text and generated queries; cosine similarity ranks best matches across 1,000 catalog vectors.</a:t>
            </a:r>
          </a:p>
        </p:txBody>
      </p:sp>
      <p:sp>
        <p:nvSpPr>
          <p:cNvPr id="12" name="Text 8"/>
          <p:cNvSpPr/>
          <p:nvPr/>
        </p:nvSpPr>
        <p:spPr>
          <a:xfrm>
            <a:off x="3381366" y="4266605"/>
            <a:ext cx="2381241" cy="30539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r>
              <a:t>Key Capability: Intent-Based Discovery</a:t>
            </a:r>
          </a:p>
        </p:txBody>
      </p:sp>
      <p:sp>
        <p:nvSpPr>
          <p:cNvPr id="13" name="Text 9"/>
          <p:cNvSpPr/>
          <p:nvPr/>
        </p:nvSpPr>
        <p:spPr>
          <a:xfrm>
            <a:off x="6048356" y="1634468"/>
            <a:ext cx="238124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Session-Aware Match Scoring</a:t>
            </a:r>
          </a:p>
        </p:txBody>
      </p:sp>
      <p:sp>
        <p:nvSpPr>
          <p:cNvPr id="14" name="Text 10"/>
          <p:cNvSpPr/>
          <p:nvPr/>
        </p:nvSpPr>
        <p:spPr>
          <a:xfrm>
            <a:off x="6048356" y="2018444"/>
            <a:ext cx="23812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Model/API: gpt-4o-mini via Responses API</a:t>
            </a:r>
          </a:p>
        </p:txBody>
      </p:sp>
      <p:sp>
        <p:nvSpPr>
          <p:cNvPr id="15" name="Text 11"/>
          <p:cNvSpPr/>
          <p:nvPr/>
        </p:nvSpPr>
        <p:spPr>
          <a:xfrm>
            <a:off x="6048356" y="2352415"/>
            <a:ext cx="2381241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Evaluates each recommendation against session intent for 'Check Your Match' verdict + rationale + confidence.</a:t>
            </a:r>
          </a:p>
        </p:txBody>
      </p:sp>
      <p:sp>
        <p:nvSpPr>
          <p:cNvPr id="16" name="Text 12"/>
          <p:cNvSpPr/>
          <p:nvPr/>
        </p:nvSpPr>
        <p:spPr>
          <a:xfrm>
            <a:off x="6048356" y="4266605"/>
            <a:ext cx="2381241" cy="30539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r>
              <a:t>Key Capability: Explainable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28625"/>
            <a:ext cx="714375" cy="17859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4375" y="571500"/>
            <a:ext cx="77152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Solution Architecture</a:t>
            </a:r>
          </a:p>
        </p:txBody>
      </p:sp>
      <p:sp>
        <p:nvSpPr>
          <p:cNvPr id="5" name="Text 1"/>
          <p:cNvSpPr/>
          <p:nvPr/>
        </p:nvSpPr>
        <p:spPr>
          <a:xfrm>
            <a:off x="714375" y="1946672"/>
            <a:ext cx="2143125" cy="21431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r>
              <a:t>Touchpoints</a:t>
            </a:r>
          </a:p>
        </p:txBody>
      </p:sp>
      <p:sp>
        <p:nvSpPr>
          <p:cNvPr id="6" name="Shape 2"/>
          <p:cNvSpPr/>
          <p:nvPr/>
        </p:nvSpPr>
        <p:spPr>
          <a:xfrm>
            <a:off x="714375" y="2446734"/>
            <a:ext cx="2143125" cy="626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Shape 3"/>
          <p:cNvSpPr/>
          <p:nvPr/>
        </p:nvSpPr>
        <p:spPr>
          <a:xfrm>
            <a:off x="714375" y="2446734"/>
            <a:ext cx="2143125" cy="71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8" name="Shape 4"/>
          <p:cNvSpPr/>
          <p:nvPr/>
        </p:nvSpPr>
        <p:spPr>
          <a:xfrm>
            <a:off x="2850356" y="2446734"/>
            <a:ext cx="7144" cy="62686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9" name="Shape 5"/>
          <p:cNvSpPr/>
          <p:nvPr/>
        </p:nvSpPr>
        <p:spPr>
          <a:xfrm>
            <a:off x="714375" y="3066455"/>
            <a:ext cx="2143125" cy="71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0" name="Shape 6"/>
          <p:cNvSpPr/>
          <p:nvPr/>
        </p:nvSpPr>
        <p:spPr>
          <a:xfrm>
            <a:off x="714375" y="2446734"/>
            <a:ext cx="28575" cy="626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7"/>
          <p:cNvSpPr/>
          <p:nvPr/>
        </p:nvSpPr>
        <p:spPr>
          <a:xfrm>
            <a:off x="857250" y="2596753"/>
            <a:ext cx="1857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Web Storefront</a:t>
            </a:r>
          </a:p>
        </p:txBody>
      </p:sp>
      <p:sp>
        <p:nvSpPr>
          <p:cNvPr id="12" name="Text 8"/>
          <p:cNvSpPr/>
          <p:nvPr/>
        </p:nvSpPr>
        <p:spPr>
          <a:xfrm>
            <a:off x="857250" y="2807494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Home + Personalized UI</a:t>
            </a:r>
          </a:p>
        </p:txBody>
      </p:sp>
      <p:sp>
        <p:nvSpPr>
          <p:cNvPr id="13" name="Shape 9"/>
          <p:cNvSpPr/>
          <p:nvPr/>
        </p:nvSpPr>
        <p:spPr>
          <a:xfrm>
            <a:off x="714375" y="3209330"/>
            <a:ext cx="2143125" cy="626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Shape 10"/>
          <p:cNvSpPr/>
          <p:nvPr/>
        </p:nvSpPr>
        <p:spPr>
          <a:xfrm>
            <a:off x="714375" y="3209330"/>
            <a:ext cx="2143125" cy="71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5" name="Shape 11"/>
          <p:cNvSpPr/>
          <p:nvPr/>
        </p:nvSpPr>
        <p:spPr>
          <a:xfrm>
            <a:off x="2850356" y="3209330"/>
            <a:ext cx="7144" cy="62686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6" name="Shape 12"/>
          <p:cNvSpPr/>
          <p:nvPr/>
        </p:nvSpPr>
        <p:spPr>
          <a:xfrm>
            <a:off x="714375" y="3829050"/>
            <a:ext cx="2143125" cy="7144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7" name="Shape 13"/>
          <p:cNvSpPr/>
          <p:nvPr/>
        </p:nvSpPr>
        <p:spPr>
          <a:xfrm>
            <a:off x="714375" y="3209330"/>
            <a:ext cx="28575" cy="626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>
            <a:off x="857250" y="3359348"/>
            <a:ext cx="1857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Associate/Kiosk Ready</a:t>
            </a:r>
          </a:p>
        </p:txBody>
      </p:sp>
      <p:sp>
        <p:nvSpPr>
          <p:cNvPr id="19" name="Text 15"/>
          <p:cNvSpPr/>
          <p:nvPr/>
        </p:nvSpPr>
        <p:spPr>
          <a:xfrm>
            <a:off x="857250" y="3570089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Same API-backed flows</a:t>
            </a:r>
          </a:p>
        </p:txBody>
      </p:sp>
      <p:sp>
        <p:nvSpPr>
          <p:cNvPr id="20" name="Text 16"/>
          <p:cNvSpPr/>
          <p:nvPr/>
        </p:nvSpPr>
        <p:spPr>
          <a:xfrm>
            <a:off x="3286125" y="1466255"/>
            <a:ext cx="2571750" cy="21431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r>
              <a:t>Orchestration</a:t>
            </a:r>
          </a:p>
        </p:txBody>
      </p:sp>
      <p:sp>
        <p:nvSpPr>
          <p:cNvPr id="21" name="Shape 17"/>
          <p:cNvSpPr/>
          <p:nvPr/>
        </p:nvSpPr>
        <p:spPr>
          <a:xfrm>
            <a:off x="3286125" y="1966317"/>
            <a:ext cx="2571750" cy="2357438"/>
          </a:xfrm>
          <a:prstGeom prst="rect">
            <a:avLst/>
          </a:prstGeom>
          <a:solidFill>
            <a:srgbClr val="1A1A1A"/>
          </a:solidFill>
          <a:ln w="9144">
            <a:solidFill>
              <a:srgbClr val="66666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29000" y="2767310"/>
            <a:ext cx="22860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FastAPI Service Layer</a:t>
            </a:r>
          </a:p>
        </p:txBody>
      </p:sp>
      <p:sp>
        <p:nvSpPr>
          <p:cNvPr id="23" name="Text 19"/>
          <p:cNvSpPr/>
          <p:nvPr/>
        </p:nvSpPr>
        <p:spPr>
          <a:xfrm>
            <a:off x="3429000" y="2978051"/>
            <a:ext cx="22860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Python / FastAPI</a:t>
            </a:r>
          </a:p>
        </p:txBody>
      </p:sp>
      <p:sp>
        <p:nvSpPr>
          <p:cNvPr id="24" name="Text 20"/>
          <p:cNvSpPr/>
          <p:nvPr/>
        </p:nvSpPr>
        <p:spPr>
          <a:xfrm>
            <a:off x="3429000" y="3201293"/>
            <a:ext cx="228600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• Search + image-match APIs</a:t>
            </a:r>
          </a:p>
          <a:p>
            <a:r>
              <a:t>• Session context + ranking</a:t>
            </a:r>
          </a:p>
          <a:p>
            <a:r>
              <a:t>• Match-check persistence</a:t>
            </a:r>
          </a:p>
        </p:txBody>
      </p:sp>
      <p:sp>
        <p:nvSpPr>
          <p:cNvPr id="25" name="Text 21"/>
          <p:cNvSpPr/>
          <p:nvPr/>
        </p:nvSpPr>
        <p:spPr>
          <a:xfrm>
            <a:off x="6286500" y="1561802"/>
            <a:ext cx="2143125" cy="21431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r>
              <a:t>Intelligence &amp; Data</a:t>
            </a:r>
          </a:p>
        </p:txBody>
      </p:sp>
      <p:sp>
        <p:nvSpPr>
          <p:cNvPr id="26" name="Shape 22"/>
          <p:cNvSpPr/>
          <p:nvPr/>
        </p:nvSpPr>
        <p:spPr>
          <a:xfrm>
            <a:off x="6286500" y="2061865"/>
            <a:ext cx="2143125" cy="626864"/>
          </a:xfrm>
          <a:prstGeom prst="rect">
            <a:avLst/>
          </a:prstGeom>
          <a:solidFill>
            <a:srgbClr val="111111"/>
          </a:solidFill>
          <a:ln w="9144">
            <a:solidFill>
              <a:srgbClr val="FF00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29375" y="2211884"/>
            <a:ext cx="1857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gpt-4o-mini</a:t>
            </a:r>
          </a:p>
        </p:txBody>
      </p:sp>
      <p:sp>
        <p:nvSpPr>
          <p:cNvPr id="28" name="Text 24"/>
          <p:cNvSpPr/>
          <p:nvPr/>
        </p:nvSpPr>
        <p:spPr>
          <a:xfrm>
            <a:off x="6429375" y="2422624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Vision extraction + match reasoning</a:t>
            </a:r>
          </a:p>
        </p:txBody>
      </p:sp>
      <p:sp>
        <p:nvSpPr>
          <p:cNvPr id="29" name="Shape 25"/>
          <p:cNvSpPr/>
          <p:nvPr/>
        </p:nvSpPr>
        <p:spPr>
          <a:xfrm>
            <a:off x="6286500" y="2824460"/>
            <a:ext cx="2143125" cy="626864"/>
          </a:xfrm>
          <a:prstGeom prst="rect">
            <a:avLst/>
          </a:prstGeom>
          <a:solidFill>
            <a:srgbClr val="111111"/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429375" y="2974479"/>
            <a:ext cx="1857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text-embedding-3-large</a:t>
            </a:r>
          </a:p>
        </p:txBody>
      </p:sp>
      <p:sp>
        <p:nvSpPr>
          <p:cNvPr id="31" name="Text 27"/>
          <p:cNvSpPr/>
          <p:nvPr/>
        </p:nvSpPr>
        <p:spPr>
          <a:xfrm>
            <a:off x="6429375" y="3185220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Query + catalog embeddings</a:t>
            </a:r>
          </a:p>
        </p:txBody>
      </p:sp>
      <p:sp>
        <p:nvSpPr>
          <p:cNvPr id="32" name="Shape 28"/>
          <p:cNvSpPr/>
          <p:nvPr/>
        </p:nvSpPr>
        <p:spPr>
          <a:xfrm>
            <a:off x="6286500" y="3587055"/>
            <a:ext cx="2143125" cy="626864"/>
          </a:xfrm>
          <a:prstGeom prst="rect">
            <a:avLst/>
          </a:prstGeom>
          <a:solidFill>
            <a:srgbClr val="111111"/>
          </a:solidFill>
          <a:ln w="9144">
            <a:solidFill>
              <a:srgbClr val="44444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429375" y="3737074"/>
            <a:ext cx="18573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SQLite + Vector Cache</a:t>
            </a:r>
          </a:p>
        </p:txBody>
      </p:sp>
      <p:sp>
        <p:nvSpPr>
          <p:cNvPr id="34" name="Text 30"/>
          <p:cNvSpPr/>
          <p:nvPr/>
        </p:nvSpPr>
        <p:spPr>
          <a:xfrm>
            <a:off x="6429375" y="3947815"/>
            <a:ext cx="1857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catalog_index.npz + session 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28625"/>
            <a:ext cx="714375" cy="19371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28625"/>
            <a:ext cx="714375" cy="17859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14375" y="571500"/>
            <a:ext cx="77152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Process Flow: Query to Recommendation</a:t>
            </a:r>
          </a:p>
        </p:txBody>
      </p:sp>
      <p:sp>
        <p:nvSpPr>
          <p:cNvPr id="6" name="Shape 1"/>
          <p:cNvSpPr/>
          <p:nvPr/>
        </p:nvSpPr>
        <p:spPr>
          <a:xfrm>
            <a:off x="714375" y="1752005"/>
            <a:ext cx="1388734" cy="214133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2"/>
          <p:cNvSpPr/>
          <p:nvPr/>
        </p:nvSpPr>
        <p:spPr>
          <a:xfrm>
            <a:off x="714375" y="1752005"/>
            <a:ext cx="3922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B981"/>
                </a:solidFill>
              </a:rPr>
              <a:t>01</a:t>
            </a:r>
            <a:endParaRPr lang="en-US" sz="2436" dirty="0"/>
          </a:p>
        </p:txBody>
      </p:sp>
      <p:sp>
        <p:nvSpPr>
          <p:cNvPr id="8" name="Text 3"/>
          <p:cNvSpPr/>
          <p:nvPr/>
        </p:nvSpPr>
        <p:spPr>
          <a:xfrm>
            <a:off x="714375" y="2361009"/>
            <a:ext cx="1317296" cy="27324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r>
              <a:t>User Intent</a:t>
            </a:r>
          </a:p>
        </p:txBody>
      </p:sp>
      <p:sp>
        <p:nvSpPr>
          <p:cNvPr id="9" name="Text 4"/>
          <p:cNvSpPr/>
          <p:nvPr/>
        </p:nvSpPr>
        <p:spPr>
          <a:xfrm>
            <a:off x="714375" y="2741414"/>
            <a:ext cx="131729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Customer types a natural-language request or uploads an outfit image.</a:t>
            </a:r>
          </a:p>
        </p:txBody>
      </p:sp>
      <p:sp>
        <p:nvSpPr>
          <p:cNvPr id="10" name="Text 5"/>
          <p:cNvSpPr/>
          <p:nvPr/>
        </p:nvSpPr>
        <p:spPr>
          <a:xfrm>
            <a:off x="714375" y="3705820"/>
            <a:ext cx="674331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r>
              <a:t>Web UI</a:t>
            </a:r>
          </a:p>
        </p:txBody>
      </p:sp>
      <p:sp>
        <p:nvSpPr>
          <p:cNvPr id="11" name="Shape 6"/>
          <p:cNvSpPr/>
          <p:nvPr/>
        </p:nvSpPr>
        <p:spPr>
          <a:xfrm>
            <a:off x="2295990" y="1752005"/>
            <a:ext cx="1388734" cy="214133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7"/>
          <p:cNvSpPr/>
          <p:nvPr/>
        </p:nvSpPr>
        <p:spPr>
          <a:xfrm>
            <a:off x="2295990" y="1752005"/>
            <a:ext cx="3922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B981"/>
                </a:solidFill>
              </a:rPr>
              <a:t>02</a:t>
            </a:r>
            <a:endParaRPr lang="en-US" sz="2436" dirty="0"/>
          </a:p>
        </p:txBody>
      </p:sp>
      <p:sp>
        <p:nvSpPr>
          <p:cNvPr id="13" name="Text 8"/>
          <p:cNvSpPr/>
          <p:nvPr/>
        </p:nvSpPr>
        <p:spPr>
          <a:xfrm>
            <a:off x="2295990" y="2361009"/>
            <a:ext cx="1317296" cy="27324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r>
              <a:t>Intent Extraction</a:t>
            </a:r>
          </a:p>
        </p:txBody>
      </p:sp>
      <p:sp>
        <p:nvSpPr>
          <p:cNvPr id="14" name="Text 9"/>
          <p:cNvSpPr/>
          <p:nvPr/>
        </p:nvSpPr>
        <p:spPr>
          <a:xfrm>
            <a:off x="2295990" y="2741414"/>
            <a:ext cx="131729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Text path embeds query. Image path uses gpt-4o-mini to create structured search queries.</a:t>
            </a:r>
          </a:p>
        </p:txBody>
      </p:sp>
      <p:sp>
        <p:nvSpPr>
          <p:cNvPr id="15" name="Text 10"/>
          <p:cNvSpPr/>
          <p:nvPr/>
        </p:nvSpPr>
        <p:spPr>
          <a:xfrm>
            <a:off x="2295990" y="3705820"/>
            <a:ext cx="1015612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r>
              <a:t>OpenAI API</a:t>
            </a:r>
          </a:p>
        </p:txBody>
      </p:sp>
      <p:sp>
        <p:nvSpPr>
          <p:cNvPr id="16" name="Shape 11"/>
          <p:cNvSpPr/>
          <p:nvPr/>
        </p:nvSpPr>
        <p:spPr>
          <a:xfrm>
            <a:off x="3877605" y="1752005"/>
            <a:ext cx="1388734" cy="214133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2"/>
          <p:cNvSpPr/>
          <p:nvPr/>
        </p:nvSpPr>
        <p:spPr>
          <a:xfrm>
            <a:off x="3877605" y="1752005"/>
            <a:ext cx="3922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B981"/>
                </a:solidFill>
              </a:rPr>
              <a:t>03</a:t>
            </a:r>
            <a:endParaRPr lang="en-US" sz="2436" dirty="0"/>
          </a:p>
        </p:txBody>
      </p:sp>
      <p:sp>
        <p:nvSpPr>
          <p:cNvPr id="18" name="Text 13"/>
          <p:cNvSpPr/>
          <p:nvPr/>
        </p:nvSpPr>
        <p:spPr>
          <a:xfrm>
            <a:off x="3877605" y="2361009"/>
            <a:ext cx="1317296" cy="27324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r>
              <a:t>Retrieval</a:t>
            </a:r>
          </a:p>
        </p:txBody>
      </p:sp>
      <p:sp>
        <p:nvSpPr>
          <p:cNvPr id="19" name="Text 14"/>
          <p:cNvSpPr/>
          <p:nvPr/>
        </p:nvSpPr>
        <p:spPr>
          <a:xfrm>
            <a:off x="3877605" y="2741414"/>
            <a:ext cx="1317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Service runs cosine similarity on catalog embeddings and selects top candidates.</a:t>
            </a:r>
          </a:p>
        </p:txBody>
      </p:sp>
      <p:sp>
        <p:nvSpPr>
          <p:cNvPr id="20" name="Text 15"/>
          <p:cNvSpPr/>
          <p:nvPr/>
        </p:nvSpPr>
        <p:spPr>
          <a:xfrm>
            <a:off x="3877605" y="3534370"/>
            <a:ext cx="627255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r>
              <a:t>Numpy Vector Index</a:t>
            </a:r>
          </a:p>
        </p:txBody>
      </p:sp>
      <p:sp>
        <p:nvSpPr>
          <p:cNvPr id="21" name="Shape 16"/>
          <p:cNvSpPr/>
          <p:nvPr/>
        </p:nvSpPr>
        <p:spPr>
          <a:xfrm>
            <a:off x="5459220" y="1752005"/>
            <a:ext cx="1388734" cy="214133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17"/>
          <p:cNvSpPr/>
          <p:nvPr/>
        </p:nvSpPr>
        <p:spPr>
          <a:xfrm>
            <a:off x="5459220" y="1752005"/>
            <a:ext cx="3922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B981"/>
                </a:solidFill>
              </a:rPr>
              <a:t>04</a:t>
            </a:r>
            <a:endParaRPr lang="en-US" sz="2436" dirty="0"/>
          </a:p>
        </p:txBody>
      </p:sp>
      <p:sp>
        <p:nvSpPr>
          <p:cNvPr id="23" name="Text 18"/>
          <p:cNvSpPr/>
          <p:nvPr/>
        </p:nvSpPr>
        <p:spPr>
          <a:xfrm>
            <a:off x="5459220" y="2361009"/>
            <a:ext cx="1317296" cy="27324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r>
              <a:t>Ranking + Explain</a:t>
            </a:r>
          </a:p>
        </p:txBody>
      </p:sp>
      <p:sp>
        <p:nvSpPr>
          <p:cNvPr id="24" name="Text 19"/>
          <p:cNvSpPr/>
          <p:nvPr/>
        </p:nvSpPr>
        <p:spPr>
          <a:xfrm>
            <a:off x="5459220" y="2741414"/>
            <a:ext cx="131729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Product candidates are ranked; optional 'Check Your Match' call returns verdict/rationale/confidence.</a:t>
            </a:r>
          </a:p>
        </p:txBody>
      </p:sp>
      <p:sp>
        <p:nvSpPr>
          <p:cNvPr id="25" name="Text 20"/>
          <p:cNvSpPr/>
          <p:nvPr/>
        </p:nvSpPr>
        <p:spPr>
          <a:xfrm>
            <a:off x="5459220" y="3705820"/>
            <a:ext cx="456419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r>
              <a:t>Session Reasoner</a:t>
            </a:r>
          </a:p>
        </p:txBody>
      </p:sp>
      <p:sp>
        <p:nvSpPr>
          <p:cNvPr id="26" name="Shape 21"/>
          <p:cNvSpPr/>
          <p:nvPr/>
        </p:nvSpPr>
        <p:spPr>
          <a:xfrm>
            <a:off x="7040835" y="1752005"/>
            <a:ext cx="1388734" cy="214133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2"/>
          <p:cNvSpPr/>
          <p:nvPr/>
        </p:nvSpPr>
        <p:spPr>
          <a:xfrm>
            <a:off x="7040835" y="1752005"/>
            <a:ext cx="39229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B981"/>
                </a:solidFill>
              </a:rPr>
              <a:t>05</a:t>
            </a:r>
            <a:endParaRPr lang="en-US" sz="2436" dirty="0"/>
          </a:p>
        </p:txBody>
      </p:sp>
      <p:sp>
        <p:nvSpPr>
          <p:cNvPr id="28" name="Text 23"/>
          <p:cNvSpPr/>
          <p:nvPr/>
        </p:nvSpPr>
        <p:spPr>
          <a:xfrm>
            <a:off x="7040835" y="2361009"/>
            <a:ext cx="1317296" cy="27324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r>
              <a:t>Response + Logging</a:t>
            </a:r>
          </a:p>
        </p:txBody>
      </p:sp>
      <p:sp>
        <p:nvSpPr>
          <p:cNvPr id="29" name="Text 24"/>
          <p:cNvSpPr/>
          <p:nvPr/>
        </p:nvSpPr>
        <p:spPr>
          <a:xfrm>
            <a:off x="7040835" y="2741414"/>
            <a:ext cx="131729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Personalized results render in UI; sessions and match checks are stored in SQLite for analytics.</a:t>
            </a:r>
          </a:p>
        </p:txBody>
      </p:sp>
      <p:sp>
        <p:nvSpPr>
          <p:cNvPr id="30" name="Text 25"/>
          <p:cNvSpPr/>
          <p:nvPr/>
        </p:nvSpPr>
        <p:spPr>
          <a:xfrm>
            <a:off x="7040835" y="3705820"/>
            <a:ext cx="742727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r>
              <a:t>UI + Persistence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103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28625"/>
            <a:ext cx="714375" cy="17859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4375" y="571500"/>
            <a:ext cx="77152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Business Value &amp; Pilot KPIs</a:t>
            </a:r>
          </a:p>
        </p:txBody>
      </p:sp>
      <p:sp>
        <p:nvSpPr>
          <p:cNvPr id="5" name="Text 1"/>
          <p:cNvSpPr/>
          <p:nvPr/>
        </p:nvSpPr>
        <p:spPr>
          <a:xfrm>
            <a:off x="714375" y="1323380"/>
            <a:ext cx="238124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15-20%</a:t>
            </a:r>
          </a:p>
        </p:txBody>
      </p:sp>
      <p:sp>
        <p:nvSpPr>
          <p:cNvPr id="6" name="Text 2"/>
          <p:cNvSpPr/>
          <p:nvPr/>
        </p:nvSpPr>
        <p:spPr>
          <a:xfrm>
            <a:off x="714375" y="2080617"/>
            <a:ext cx="23812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Conversion Lift Target</a:t>
            </a:r>
          </a:p>
        </p:txBody>
      </p:sp>
      <p:sp>
        <p:nvSpPr>
          <p:cNvPr id="7" name="Text 3"/>
          <p:cNvSpPr/>
          <p:nvPr/>
        </p:nvSpPr>
        <p:spPr>
          <a:xfrm>
            <a:off x="714375" y="2332434"/>
            <a:ext cx="238124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Expected improvement from better relevance on event-driven and long-tail style requests.</a:t>
            </a:r>
          </a:p>
        </p:txBody>
      </p:sp>
      <p:sp>
        <p:nvSpPr>
          <p:cNvPr id="8" name="Text 4"/>
          <p:cNvSpPr/>
          <p:nvPr/>
        </p:nvSpPr>
        <p:spPr>
          <a:xfrm>
            <a:off x="3381366" y="1323380"/>
            <a:ext cx="238124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30-45%</a:t>
            </a:r>
          </a:p>
        </p:txBody>
      </p:sp>
      <p:sp>
        <p:nvSpPr>
          <p:cNvPr id="9" name="Text 5"/>
          <p:cNvSpPr/>
          <p:nvPr/>
        </p:nvSpPr>
        <p:spPr>
          <a:xfrm>
            <a:off x="3381366" y="2080617"/>
            <a:ext cx="23812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Faster Time-to-Item</a:t>
            </a:r>
          </a:p>
        </p:txBody>
      </p:sp>
      <p:sp>
        <p:nvSpPr>
          <p:cNvPr id="10" name="Text 6"/>
          <p:cNvSpPr/>
          <p:nvPr/>
        </p:nvSpPr>
        <p:spPr>
          <a:xfrm>
            <a:off x="3381366" y="2332434"/>
            <a:ext cx="238124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Reduction in search friction using natural language and image-driven discovery.</a:t>
            </a:r>
          </a:p>
        </p:txBody>
      </p:sp>
      <p:sp>
        <p:nvSpPr>
          <p:cNvPr id="11" name="Text 7"/>
          <p:cNvSpPr/>
          <p:nvPr/>
        </p:nvSpPr>
        <p:spPr>
          <a:xfrm>
            <a:off x="6048356" y="1323380"/>
            <a:ext cx="238124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10-15%</a:t>
            </a:r>
          </a:p>
        </p:txBody>
      </p:sp>
      <p:sp>
        <p:nvSpPr>
          <p:cNvPr id="12" name="Text 8"/>
          <p:cNvSpPr/>
          <p:nvPr/>
        </p:nvSpPr>
        <p:spPr>
          <a:xfrm>
            <a:off x="6048356" y="2080617"/>
            <a:ext cx="23812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Return Rate Reduction</a:t>
            </a:r>
          </a:p>
        </p:txBody>
      </p:sp>
      <p:sp>
        <p:nvSpPr>
          <p:cNvPr id="13" name="Text 9"/>
          <p:cNvSpPr/>
          <p:nvPr/>
        </p:nvSpPr>
        <p:spPr>
          <a:xfrm>
            <a:off x="6048356" y="2332434"/>
            <a:ext cx="2381241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Match explanation can improve confidence before checkout and reduce mismatched purchases.</a:t>
            </a:r>
          </a:p>
        </p:txBody>
      </p:sp>
      <p:sp>
        <p:nvSpPr>
          <p:cNvPr id="14" name="Shape 10"/>
          <p:cNvSpPr/>
          <p:nvPr/>
        </p:nvSpPr>
        <p:spPr>
          <a:xfrm>
            <a:off x="714375" y="3098211"/>
            <a:ext cx="7715250" cy="204132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714375" y="3098211"/>
            <a:ext cx="771525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2"/>
          <p:cNvSpPr/>
          <p:nvPr/>
        </p:nvSpPr>
        <p:spPr>
          <a:xfrm>
            <a:off x="714375" y="3383961"/>
            <a:ext cx="3643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Strategic Impact</a:t>
            </a:r>
          </a:p>
        </p:txBody>
      </p:sp>
      <p:sp>
        <p:nvSpPr>
          <p:cNvPr id="17" name="Text 13"/>
          <p:cNvSpPr/>
          <p:nvPr/>
        </p:nvSpPr>
        <p:spPr>
          <a:xfrm>
            <a:off x="714375" y="3760794"/>
            <a:ext cx="3643313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Capture structured customer intent data (occasion, color, style) for merchandising decisions.</a:t>
            </a:r>
          </a:p>
        </p:txBody>
      </p:sp>
      <p:sp>
        <p:nvSpPr>
          <p:cNvPr id="18" name="Text 14"/>
          <p:cNvSpPr/>
          <p:nvPr/>
        </p:nvSpPr>
        <p:spPr>
          <a:xfrm>
            <a:off x="714375" y="4217994"/>
            <a:ext cx="3643313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Increase loyalty by turning 'can't find it' moments into guided shopping experiences.</a:t>
            </a:r>
          </a:p>
        </p:txBody>
      </p:sp>
      <p:sp>
        <p:nvSpPr>
          <p:cNvPr id="19" name="Text 15"/>
          <p:cNvSpPr/>
          <p:nvPr/>
        </p:nvSpPr>
        <p:spPr>
          <a:xfrm>
            <a:off x="714375" y="4675194"/>
            <a:ext cx="3643313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Create a reusable AI foundation across ecommerce, app, and in-store channels.</a:t>
            </a:r>
          </a:p>
        </p:txBody>
      </p:sp>
      <p:sp>
        <p:nvSpPr>
          <p:cNvPr id="20" name="Text 16"/>
          <p:cNvSpPr/>
          <p:nvPr/>
        </p:nvSpPr>
        <p:spPr>
          <a:xfrm>
            <a:off x="4786313" y="3383961"/>
            <a:ext cx="3643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Operational Gains</a:t>
            </a:r>
          </a:p>
        </p:txBody>
      </p:sp>
      <p:sp>
        <p:nvSpPr>
          <p:cNvPr id="21" name="Text 17"/>
          <p:cNvSpPr/>
          <p:nvPr/>
        </p:nvSpPr>
        <p:spPr>
          <a:xfrm>
            <a:off x="4786313" y="3760794"/>
            <a:ext cx="36433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Reduce associate lookup time and escalation for ambiguous customer requests.</a:t>
            </a:r>
          </a:p>
        </p:txBody>
      </p:sp>
      <p:sp>
        <p:nvSpPr>
          <p:cNvPr id="22" name="Text 18"/>
          <p:cNvSpPr/>
          <p:nvPr/>
        </p:nvSpPr>
        <p:spPr>
          <a:xfrm>
            <a:off x="4786313" y="4042972"/>
            <a:ext cx="3643313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Track query-to-click and match outcomes for continuous ranking improvements.</a:t>
            </a:r>
          </a:p>
        </p:txBody>
      </p:sp>
      <p:sp>
        <p:nvSpPr>
          <p:cNvPr id="23" name="Text 19"/>
          <p:cNvSpPr/>
          <p:nvPr/>
        </p:nvSpPr>
        <p:spPr>
          <a:xfrm>
            <a:off x="4786313" y="4500172"/>
            <a:ext cx="3643313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Roll out safely with API controls, monitoring, and deterministic fallback logic.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43513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28625"/>
            <a:ext cx="714375" cy="17859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4375" y="571500"/>
            <a:ext cx="77152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Implementation Roadmap</a:t>
            </a:r>
          </a:p>
        </p:txBody>
      </p:sp>
      <p:sp>
        <p:nvSpPr>
          <p:cNvPr id="5" name="Text 1"/>
          <p:cNvSpPr/>
          <p:nvPr/>
        </p:nvSpPr>
        <p:spPr>
          <a:xfrm>
            <a:off x="714375" y="1180505"/>
            <a:ext cx="77152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De-risked path from pilot to enterprise scale in 12 weeks.</a:t>
            </a:r>
          </a:p>
        </p:txBody>
      </p:sp>
      <p:sp>
        <p:nvSpPr>
          <p:cNvPr id="6" name="Shape 2"/>
          <p:cNvSpPr/>
          <p:nvPr/>
        </p:nvSpPr>
        <p:spPr>
          <a:xfrm>
            <a:off x="714375" y="1843088"/>
            <a:ext cx="1768078" cy="2857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Shape 3"/>
          <p:cNvSpPr/>
          <p:nvPr/>
        </p:nvSpPr>
        <p:spPr>
          <a:xfrm>
            <a:off x="714375" y="1843088"/>
            <a:ext cx="1768078" cy="28575"/>
          </a:xfrm>
          <a:prstGeom prst="rect">
            <a:avLst/>
          </a:prstGeom>
          <a:solidFill>
            <a:srgbClr val="FF00FF"/>
          </a:solidFill>
          <a:ln/>
        </p:spPr>
      </p:sp>
      <p:sp>
        <p:nvSpPr>
          <p:cNvPr id="8" name="Text 4"/>
          <p:cNvSpPr/>
          <p:nvPr/>
        </p:nvSpPr>
        <p:spPr>
          <a:xfrm>
            <a:off x="928688" y="2057400"/>
            <a:ext cx="13394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Phase 1</a:t>
            </a:r>
          </a:p>
        </p:txBody>
      </p:sp>
      <p:sp>
        <p:nvSpPr>
          <p:cNvPr id="9" name="Text 5"/>
          <p:cNvSpPr/>
          <p:nvPr/>
        </p:nvSpPr>
        <p:spPr>
          <a:xfrm>
            <a:off x="928688" y="2228850"/>
            <a:ext cx="133945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Foundation</a:t>
            </a:r>
          </a:p>
        </p:txBody>
      </p:sp>
      <p:sp>
        <p:nvSpPr>
          <p:cNvPr id="10" name="Text 6"/>
          <p:cNvSpPr/>
          <p:nvPr/>
        </p:nvSpPr>
        <p:spPr>
          <a:xfrm>
            <a:off x="928688" y="2498527"/>
            <a:ext cx="13394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Weeks 1-2</a:t>
            </a:r>
          </a:p>
        </p:txBody>
      </p:sp>
      <p:sp>
        <p:nvSpPr>
          <p:cNvPr id="11" name="Text 7"/>
          <p:cNvSpPr/>
          <p:nvPr/>
        </p:nvSpPr>
        <p:spPr>
          <a:xfrm>
            <a:off x="928688" y="2868216"/>
            <a:ext cx="4297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•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1035844" y="2870002"/>
            <a:ext cx="896234" cy="31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Catalog sync + embedding cache build</a:t>
            </a:r>
          </a:p>
        </p:txBody>
      </p:sp>
      <p:sp>
        <p:nvSpPr>
          <p:cNvPr id="13" name="Text 9"/>
          <p:cNvSpPr/>
          <p:nvPr/>
        </p:nvSpPr>
        <p:spPr>
          <a:xfrm>
            <a:off x="928688" y="3295390"/>
            <a:ext cx="4297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•</a:t>
            </a:r>
            <a:endParaRPr lang="en-US" sz="834" dirty="0"/>
          </a:p>
        </p:txBody>
      </p:sp>
      <p:sp>
        <p:nvSpPr>
          <p:cNvPr id="14" name="Text 10"/>
          <p:cNvSpPr/>
          <p:nvPr/>
        </p:nvSpPr>
        <p:spPr>
          <a:xfrm>
            <a:off x="1035844" y="3297175"/>
            <a:ext cx="616204" cy="31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API + session schema hardening</a:t>
            </a:r>
          </a:p>
        </p:txBody>
      </p:sp>
      <p:sp>
        <p:nvSpPr>
          <p:cNvPr id="15" name="Text 11"/>
          <p:cNvSpPr/>
          <p:nvPr/>
        </p:nvSpPr>
        <p:spPr>
          <a:xfrm>
            <a:off x="928688" y="3722563"/>
            <a:ext cx="4297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•</a:t>
            </a:r>
            <a:endParaRPr lang="en-US" sz="834" dirty="0"/>
          </a:p>
        </p:txBody>
      </p:sp>
      <p:sp>
        <p:nvSpPr>
          <p:cNvPr id="16" name="Text 12"/>
          <p:cNvSpPr/>
          <p:nvPr/>
        </p:nvSpPr>
        <p:spPr>
          <a:xfrm>
            <a:off x="1035844" y="3724349"/>
            <a:ext cx="11975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Security and guardrail baseline</a:t>
            </a:r>
          </a:p>
        </p:txBody>
      </p:sp>
      <p:sp>
        <p:nvSpPr>
          <p:cNvPr id="17" name="Text 13"/>
          <p:cNvSpPr/>
          <p:nvPr/>
        </p:nvSpPr>
        <p:spPr>
          <a:xfrm>
            <a:off x="928688" y="3989729"/>
            <a:ext cx="4297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•</a:t>
            </a:r>
            <a:endParaRPr lang="en-US" sz="834" dirty="0"/>
          </a:p>
        </p:txBody>
      </p:sp>
      <p:sp>
        <p:nvSpPr>
          <p:cNvPr id="18" name="Text 14"/>
          <p:cNvSpPr/>
          <p:nvPr/>
        </p:nvSpPr>
        <p:spPr>
          <a:xfrm>
            <a:off x="1035844" y="3991515"/>
            <a:ext cx="1072958" cy="31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Success metrics definition</a:t>
            </a:r>
          </a:p>
        </p:txBody>
      </p:sp>
      <p:sp>
        <p:nvSpPr>
          <p:cNvPr id="19" name="Shape 15"/>
          <p:cNvSpPr/>
          <p:nvPr/>
        </p:nvSpPr>
        <p:spPr>
          <a:xfrm>
            <a:off x="2696766" y="1843088"/>
            <a:ext cx="1768078" cy="2857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Shape 16"/>
          <p:cNvSpPr/>
          <p:nvPr/>
        </p:nvSpPr>
        <p:spPr>
          <a:xfrm>
            <a:off x="2696766" y="1843088"/>
            <a:ext cx="1768078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7"/>
          <p:cNvSpPr/>
          <p:nvPr/>
        </p:nvSpPr>
        <p:spPr>
          <a:xfrm>
            <a:off x="2911078" y="2057400"/>
            <a:ext cx="13394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Phase 2</a:t>
            </a:r>
          </a:p>
        </p:txBody>
      </p:sp>
      <p:sp>
        <p:nvSpPr>
          <p:cNvPr id="22" name="Text 18"/>
          <p:cNvSpPr/>
          <p:nvPr/>
        </p:nvSpPr>
        <p:spPr>
          <a:xfrm>
            <a:off x="2911078" y="2228850"/>
            <a:ext cx="133945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Pilot</a:t>
            </a:r>
          </a:p>
        </p:txBody>
      </p:sp>
      <p:sp>
        <p:nvSpPr>
          <p:cNvPr id="23" name="Text 19"/>
          <p:cNvSpPr/>
          <p:nvPr/>
        </p:nvSpPr>
        <p:spPr>
          <a:xfrm>
            <a:off x="2911078" y="2498527"/>
            <a:ext cx="13394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Weeks 3-6</a:t>
            </a:r>
          </a:p>
        </p:txBody>
      </p:sp>
      <p:sp>
        <p:nvSpPr>
          <p:cNvPr id="24" name="Text 20"/>
          <p:cNvSpPr/>
          <p:nvPr/>
        </p:nvSpPr>
        <p:spPr>
          <a:xfrm>
            <a:off x="2911078" y="2868216"/>
            <a:ext cx="4297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•</a:t>
            </a:r>
            <a:endParaRPr lang="en-US" sz="834" dirty="0"/>
          </a:p>
        </p:txBody>
      </p:sp>
      <p:sp>
        <p:nvSpPr>
          <p:cNvPr id="25" name="Text 21"/>
          <p:cNvSpPr/>
          <p:nvPr/>
        </p:nvSpPr>
        <p:spPr>
          <a:xfrm>
            <a:off x="3018234" y="2870002"/>
            <a:ext cx="11161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Launch in 5 high-traffic stores</a:t>
            </a:r>
          </a:p>
        </p:txBody>
      </p:sp>
      <p:sp>
        <p:nvSpPr>
          <p:cNvPr id="26" name="Text 22"/>
          <p:cNvSpPr/>
          <p:nvPr/>
        </p:nvSpPr>
        <p:spPr>
          <a:xfrm>
            <a:off x="2911078" y="3135381"/>
            <a:ext cx="4297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•</a:t>
            </a:r>
            <a:endParaRPr lang="en-US" sz="834" dirty="0"/>
          </a:p>
        </p:txBody>
      </p:sp>
      <p:sp>
        <p:nvSpPr>
          <p:cNvPr id="27" name="Text 23"/>
          <p:cNvSpPr/>
          <p:nvPr/>
        </p:nvSpPr>
        <p:spPr>
          <a:xfrm>
            <a:off x="3018234" y="3137167"/>
            <a:ext cx="12200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Associate enablement and playbooks</a:t>
            </a:r>
          </a:p>
        </p:txBody>
      </p:sp>
      <p:sp>
        <p:nvSpPr>
          <p:cNvPr id="28" name="Text 24"/>
          <p:cNvSpPr/>
          <p:nvPr/>
        </p:nvSpPr>
        <p:spPr>
          <a:xfrm>
            <a:off x="2911078" y="3402546"/>
            <a:ext cx="4297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•</a:t>
            </a:r>
            <a:endParaRPr lang="en-US" sz="834" dirty="0"/>
          </a:p>
        </p:txBody>
      </p:sp>
      <p:sp>
        <p:nvSpPr>
          <p:cNvPr id="29" name="Text 25"/>
          <p:cNvSpPr/>
          <p:nvPr/>
        </p:nvSpPr>
        <p:spPr>
          <a:xfrm>
            <a:off x="3018234" y="3404332"/>
            <a:ext cx="6286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Weekly prompt/ranking tune-ups</a:t>
            </a:r>
          </a:p>
        </p:txBody>
      </p:sp>
      <p:sp>
        <p:nvSpPr>
          <p:cNvPr id="30" name="Text 26"/>
          <p:cNvSpPr/>
          <p:nvPr/>
        </p:nvSpPr>
        <p:spPr>
          <a:xfrm>
            <a:off x="2911078" y="3669711"/>
            <a:ext cx="4297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•</a:t>
            </a:r>
            <a:endParaRPr lang="en-US" sz="834" dirty="0"/>
          </a:p>
        </p:txBody>
      </p:sp>
      <p:sp>
        <p:nvSpPr>
          <p:cNvPr id="31" name="Text 27"/>
          <p:cNvSpPr/>
          <p:nvPr/>
        </p:nvSpPr>
        <p:spPr>
          <a:xfrm>
            <a:off x="3018234" y="3671497"/>
            <a:ext cx="10896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Collect user feedback + query logs</a:t>
            </a:r>
          </a:p>
        </p:txBody>
      </p:sp>
      <p:sp>
        <p:nvSpPr>
          <p:cNvPr id="32" name="Shape 28"/>
          <p:cNvSpPr/>
          <p:nvPr/>
        </p:nvSpPr>
        <p:spPr>
          <a:xfrm>
            <a:off x="4679156" y="1843088"/>
            <a:ext cx="1768078" cy="2857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3" name="Shape 29"/>
          <p:cNvSpPr/>
          <p:nvPr/>
        </p:nvSpPr>
        <p:spPr>
          <a:xfrm>
            <a:off x="4679156" y="1843088"/>
            <a:ext cx="1768078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0"/>
          <p:cNvSpPr/>
          <p:nvPr/>
        </p:nvSpPr>
        <p:spPr>
          <a:xfrm>
            <a:off x="4893469" y="2057400"/>
            <a:ext cx="13394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Phase 3</a:t>
            </a:r>
          </a:p>
        </p:txBody>
      </p:sp>
      <p:sp>
        <p:nvSpPr>
          <p:cNvPr id="35" name="Text 31"/>
          <p:cNvSpPr/>
          <p:nvPr/>
        </p:nvSpPr>
        <p:spPr>
          <a:xfrm>
            <a:off x="4893469" y="2228850"/>
            <a:ext cx="133945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Optimize</a:t>
            </a:r>
          </a:p>
        </p:txBody>
      </p:sp>
      <p:sp>
        <p:nvSpPr>
          <p:cNvPr id="36" name="Text 32"/>
          <p:cNvSpPr/>
          <p:nvPr/>
        </p:nvSpPr>
        <p:spPr>
          <a:xfrm>
            <a:off x="4893469" y="2498527"/>
            <a:ext cx="13394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Weeks 7-9</a:t>
            </a:r>
          </a:p>
        </p:txBody>
      </p:sp>
      <p:sp>
        <p:nvSpPr>
          <p:cNvPr id="37" name="Text 33"/>
          <p:cNvSpPr/>
          <p:nvPr/>
        </p:nvSpPr>
        <p:spPr>
          <a:xfrm>
            <a:off x="4893469" y="2868216"/>
            <a:ext cx="4297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•</a:t>
            </a:r>
            <a:endParaRPr lang="en-US" sz="834" dirty="0"/>
          </a:p>
        </p:txBody>
      </p:sp>
      <p:sp>
        <p:nvSpPr>
          <p:cNvPr id="38" name="Text 34"/>
          <p:cNvSpPr/>
          <p:nvPr/>
        </p:nvSpPr>
        <p:spPr>
          <a:xfrm>
            <a:off x="5000625" y="2870002"/>
            <a:ext cx="11528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Latency and caching improvements</a:t>
            </a:r>
          </a:p>
        </p:txBody>
      </p:sp>
      <p:sp>
        <p:nvSpPr>
          <p:cNvPr id="39" name="Text 35"/>
          <p:cNvSpPr/>
          <p:nvPr/>
        </p:nvSpPr>
        <p:spPr>
          <a:xfrm>
            <a:off x="4893469" y="3135381"/>
            <a:ext cx="4297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•</a:t>
            </a:r>
            <a:endParaRPr lang="en-US" sz="834" dirty="0"/>
          </a:p>
        </p:txBody>
      </p:sp>
      <p:sp>
        <p:nvSpPr>
          <p:cNvPr id="40" name="Text 36"/>
          <p:cNvSpPr/>
          <p:nvPr/>
        </p:nvSpPr>
        <p:spPr>
          <a:xfrm>
            <a:off x="5000625" y="3137167"/>
            <a:ext cx="9604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Ranking quality improvements</a:t>
            </a:r>
          </a:p>
        </p:txBody>
      </p:sp>
      <p:sp>
        <p:nvSpPr>
          <p:cNvPr id="41" name="Text 37"/>
          <p:cNvSpPr/>
          <p:nvPr/>
        </p:nvSpPr>
        <p:spPr>
          <a:xfrm>
            <a:off x="4893469" y="3402546"/>
            <a:ext cx="4297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•</a:t>
            </a:r>
            <a:endParaRPr lang="en-US" sz="834" dirty="0"/>
          </a:p>
        </p:txBody>
      </p:sp>
      <p:sp>
        <p:nvSpPr>
          <p:cNvPr id="42" name="Text 38"/>
          <p:cNvSpPr/>
          <p:nvPr/>
        </p:nvSpPr>
        <p:spPr>
          <a:xfrm>
            <a:off x="5000625" y="3404332"/>
            <a:ext cx="8552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KPI dashboard for funnel + match</a:t>
            </a:r>
          </a:p>
        </p:txBody>
      </p:sp>
      <p:sp>
        <p:nvSpPr>
          <p:cNvPr id="43" name="Text 39"/>
          <p:cNvSpPr/>
          <p:nvPr/>
        </p:nvSpPr>
        <p:spPr>
          <a:xfrm>
            <a:off x="4893469" y="3669711"/>
            <a:ext cx="4297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•</a:t>
            </a:r>
            <a:endParaRPr lang="en-US" sz="834" dirty="0"/>
          </a:p>
        </p:txBody>
      </p:sp>
      <p:sp>
        <p:nvSpPr>
          <p:cNvPr id="44" name="Text 40"/>
          <p:cNvSpPr/>
          <p:nvPr/>
        </p:nvSpPr>
        <p:spPr>
          <a:xfrm>
            <a:off x="5000625" y="3671497"/>
            <a:ext cx="9589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A/B test against current search</a:t>
            </a:r>
          </a:p>
        </p:txBody>
      </p:sp>
      <p:sp>
        <p:nvSpPr>
          <p:cNvPr id="45" name="Shape 41"/>
          <p:cNvSpPr/>
          <p:nvPr/>
        </p:nvSpPr>
        <p:spPr>
          <a:xfrm>
            <a:off x="6661547" y="1843088"/>
            <a:ext cx="1768078" cy="2857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6" name="Shape 42"/>
          <p:cNvSpPr/>
          <p:nvPr/>
        </p:nvSpPr>
        <p:spPr>
          <a:xfrm>
            <a:off x="6661547" y="1843088"/>
            <a:ext cx="1768078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7" name="Text 43"/>
          <p:cNvSpPr/>
          <p:nvPr/>
        </p:nvSpPr>
        <p:spPr>
          <a:xfrm>
            <a:off x="6875859" y="2057400"/>
            <a:ext cx="13394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Phase 4</a:t>
            </a:r>
          </a:p>
        </p:txBody>
      </p:sp>
      <p:sp>
        <p:nvSpPr>
          <p:cNvPr id="48" name="Text 44"/>
          <p:cNvSpPr/>
          <p:nvPr/>
        </p:nvSpPr>
        <p:spPr>
          <a:xfrm>
            <a:off x="6875859" y="2228850"/>
            <a:ext cx="133945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Scale</a:t>
            </a:r>
          </a:p>
        </p:txBody>
      </p:sp>
      <p:sp>
        <p:nvSpPr>
          <p:cNvPr id="49" name="Text 45"/>
          <p:cNvSpPr/>
          <p:nvPr/>
        </p:nvSpPr>
        <p:spPr>
          <a:xfrm>
            <a:off x="6875859" y="2498527"/>
            <a:ext cx="13394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Week 10+</a:t>
            </a:r>
          </a:p>
        </p:txBody>
      </p:sp>
      <p:sp>
        <p:nvSpPr>
          <p:cNvPr id="50" name="Text 46"/>
          <p:cNvSpPr/>
          <p:nvPr/>
        </p:nvSpPr>
        <p:spPr>
          <a:xfrm>
            <a:off x="6875859" y="2868216"/>
            <a:ext cx="4297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•</a:t>
            </a:r>
            <a:endParaRPr lang="en-US" sz="834" dirty="0"/>
          </a:p>
        </p:txBody>
      </p:sp>
      <p:sp>
        <p:nvSpPr>
          <p:cNvPr id="51" name="Text 47"/>
          <p:cNvSpPr/>
          <p:nvPr/>
        </p:nvSpPr>
        <p:spPr>
          <a:xfrm>
            <a:off x="6983016" y="2870002"/>
            <a:ext cx="12280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Regional rollout expansion</a:t>
            </a:r>
          </a:p>
        </p:txBody>
      </p:sp>
      <p:sp>
        <p:nvSpPr>
          <p:cNvPr id="52" name="Text 48"/>
          <p:cNvSpPr/>
          <p:nvPr/>
        </p:nvSpPr>
        <p:spPr>
          <a:xfrm>
            <a:off x="6875859" y="3135381"/>
            <a:ext cx="4297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•</a:t>
            </a:r>
            <a:endParaRPr lang="en-US" sz="834" dirty="0"/>
          </a:p>
        </p:txBody>
      </p:sp>
      <p:sp>
        <p:nvSpPr>
          <p:cNvPr id="53" name="Text 49"/>
          <p:cNvSpPr/>
          <p:nvPr/>
        </p:nvSpPr>
        <p:spPr>
          <a:xfrm>
            <a:off x="6983016" y="3137167"/>
            <a:ext cx="122646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Inventory/availability integrations</a:t>
            </a:r>
          </a:p>
        </p:txBody>
      </p:sp>
      <p:sp>
        <p:nvSpPr>
          <p:cNvPr id="54" name="Text 50"/>
          <p:cNvSpPr/>
          <p:nvPr/>
        </p:nvSpPr>
        <p:spPr>
          <a:xfrm>
            <a:off x="6875859" y="3402546"/>
            <a:ext cx="4297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•</a:t>
            </a:r>
            <a:endParaRPr lang="en-US" sz="834" dirty="0"/>
          </a:p>
        </p:txBody>
      </p:sp>
      <p:sp>
        <p:nvSpPr>
          <p:cNvPr id="55" name="Text 51"/>
          <p:cNvSpPr/>
          <p:nvPr/>
        </p:nvSpPr>
        <p:spPr>
          <a:xfrm>
            <a:off x="6983016" y="3404332"/>
            <a:ext cx="9423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Seasonal campaign activation</a:t>
            </a:r>
          </a:p>
        </p:txBody>
      </p:sp>
      <p:sp>
        <p:nvSpPr>
          <p:cNvPr id="56" name="Text 52"/>
          <p:cNvSpPr/>
          <p:nvPr/>
        </p:nvSpPr>
        <p:spPr>
          <a:xfrm>
            <a:off x="6875859" y="3669711"/>
            <a:ext cx="4297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•</a:t>
            </a:r>
            <a:endParaRPr lang="en-US" sz="834" dirty="0"/>
          </a:p>
        </p:txBody>
      </p:sp>
      <p:sp>
        <p:nvSpPr>
          <p:cNvPr id="57" name="Text 53"/>
          <p:cNvSpPr/>
          <p:nvPr/>
        </p:nvSpPr>
        <p:spPr>
          <a:xfrm>
            <a:off x="6983016" y="3671497"/>
            <a:ext cx="1022533" cy="31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Production governance cadence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91971" y="428625"/>
            <a:ext cx="62340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OpenAI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714375" y="571500"/>
            <a:ext cx="77152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Why OpenAI Platform for RetailNext</a:t>
            </a:r>
          </a:p>
        </p:txBody>
      </p:sp>
      <p:sp>
        <p:nvSpPr>
          <p:cNvPr id="5" name="Text 2"/>
          <p:cNvSpPr/>
          <p:nvPr/>
        </p:nvSpPr>
        <p:spPr>
          <a:xfrm>
            <a:off x="714375" y="1902582"/>
            <a:ext cx="3007882" cy="1440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One platform for multimodal reasoning, embeddings, and response generation.</a:t>
            </a:r>
          </a:p>
        </p:txBody>
      </p:sp>
      <p:sp>
        <p:nvSpPr>
          <p:cNvPr id="6" name="Text 3"/>
          <p:cNvSpPr/>
          <p:nvPr/>
        </p:nvSpPr>
        <p:spPr>
          <a:xfrm>
            <a:off x="714375" y="3557029"/>
            <a:ext cx="3007882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This enabled a fast build from cookbook dataset to full-stack prototype: understand intent, retrieve products, explain matches, and log outcomes.</a:t>
            </a:r>
          </a:p>
        </p:txBody>
      </p:sp>
      <p:sp>
        <p:nvSpPr>
          <p:cNvPr id="7" name="Text 4"/>
          <p:cNvSpPr/>
          <p:nvPr/>
        </p:nvSpPr>
        <p:spPr>
          <a:xfrm>
            <a:off x="4536644" y="1675209"/>
            <a:ext cx="38929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Model Breadth</a:t>
            </a:r>
          </a:p>
        </p:txBody>
      </p:sp>
      <p:sp>
        <p:nvSpPr>
          <p:cNvPr id="8" name="Text 5"/>
          <p:cNvSpPr/>
          <p:nvPr/>
        </p:nvSpPr>
        <p:spPr>
          <a:xfrm>
            <a:off x="4536644" y="1980605"/>
            <a:ext cx="38929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Vision, text generation, and embeddings are available in a consistent API surface for faster iteration.</a:t>
            </a:r>
          </a:p>
        </p:txBody>
      </p:sp>
      <p:sp>
        <p:nvSpPr>
          <p:cNvPr id="9" name="Text 6"/>
          <p:cNvSpPr/>
          <p:nvPr/>
        </p:nvSpPr>
        <p:spPr>
          <a:xfrm>
            <a:off x="4536644" y="2780705"/>
            <a:ext cx="38929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Enterprise Controls</a:t>
            </a:r>
          </a:p>
        </p:txBody>
      </p:sp>
      <p:sp>
        <p:nvSpPr>
          <p:cNvPr id="10" name="Text 7"/>
          <p:cNvSpPr/>
          <p:nvPr/>
        </p:nvSpPr>
        <p:spPr>
          <a:xfrm>
            <a:off x="4536644" y="3086100"/>
            <a:ext cx="38929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API-level controls and governance patterns support secure rollout for retail customer experiences.</a:t>
            </a:r>
          </a:p>
        </p:txBody>
      </p:sp>
      <p:sp>
        <p:nvSpPr>
          <p:cNvPr id="11" name="Text 8"/>
          <p:cNvSpPr/>
          <p:nvPr/>
        </p:nvSpPr>
        <p:spPr>
          <a:xfrm>
            <a:off x="4536644" y="3714750"/>
            <a:ext cx="38929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Developer Velocity</a:t>
            </a:r>
          </a:p>
        </p:txBody>
      </p:sp>
      <p:sp>
        <p:nvSpPr>
          <p:cNvPr id="12" name="Text 9"/>
          <p:cNvSpPr/>
          <p:nvPr/>
        </p:nvSpPr>
        <p:spPr>
          <a:xfrm>
            <a:off x="4536644" y="4020145"/>
            <a:ext cx="38929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t>SDKs and cookbook assets reduced implementation time while keeping architecture extensible.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05003" y="428625"/>
            <a:ext cx="61037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OpenAI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714375" y="571500"/>
            <a:ext cx="77152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Next Steps</a:t>
            </a:r>
          </a:p>
        </p:txBody>
      </p:sp>
      <p:sp>
        <p:nvSpPr>
          <p:cNvPr id="5" name="Text 2"/>
          <p:cNvSpPr/>
          <p:nvPr/>
        </p:nvSpPr>
        <p:spPr>
          <a:xfrm>
            <a:off x="714375" y="1180505"/>
            <a:ext cx="77152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Submission-ready plan plus onsite presentation flow.</a:t>
            </a:r>
          </a:p>
        </p:txBody>
      </p:sp>
      <p:sp>
        <p:nvSpPr>
          <p:cNvPr id="6" name="Text 3"/>
          <p:cNvSpPr/>
          <p:nvPr/>
        </p:nvSpPr>
        <p:spPr>
          <a:xfrm>
            <a:off x="714375" y="1985963"/>
            <a:ext cx="393905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Immediate Actions</a:t>
            </a:r>
          </a:p>
        </p:txBody>
      </p:sp>
      <p:sp>
        <p:nvSpPr>
          <p:cNvPr id="7" name="Shape 4"/>
          <p:cNvSpPr/>
          <p:nvPr/>
        </p:nvSpPr>
        <p:spPr>
          <a:xfrm>
            <a:off x="714375" y="2452092"/>
            <a:ext cx="85725" cy="857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1000125" y="2394942"/>
            <a:ext cx="163617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Finalize Submission Package</a:t>
            </a:r>
          </a:p>
        </p:txBody>
      </p:sp>
      <p:sp>
        <p:nvSpPr>
          <p:cNvPr id="9" name="Text 6"/>
          <p:cNvSpPr/>
          <p:nvPr/>
        </p:nvSpPr>
        <p:spPr>
          <a:xfrm>
            <a:off x="1000125" y="2664619"/>
            <a:ext cx="36533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Record a &lt;6 minute technical walkthrough covering architecture, key code paths, and live UX flows.</a:t>
            </a:r>
          </a:p>
        </p:txBody>
      </p:sp>
      <p:sp>
        <p:nvSpPr>
          <p:cNvPr id="10" name="Shape 7"/>
          <p:cNvSpPr/>
          <p:nvPr/>
        </p:nvSpPr>
        <p:spPr>
          <a:xfrm>
            <a:off x="714375" y="3091458"/>
            <a:ext cx="85725" cy="857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1000125" y="3034308"/>
            <a:ext cx="2113824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Prepare Executive Demo</a:t>
            </a:r>
          </a:p>
        </p:txBody>
      </p:sp>
      <p:sp>
        <p:nvSpPr>
          <p:cNvPr id="12" name="Text 9"/>
          <p:cNvSpPr/>
          <p:nvPr/>
        </p:nvSpPr>
        <p:spPr>
          <a:xfrm>
            <a:off x="1000125" y="3303984"/>
            <a:ext cx="36533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Use a 20-minute narrative: business problem, OpenAI platform, architecture, value, then live demo.</a:t>
            </a:r>
          </a:p>
        </p:txBody>
      </p:sp>
      <p:sp>
        <p:nvSpPr>
          <p:cNvPr id="13" name="Shape 10"/>
          <p:cNvSpPr/>
          <p:nvPr/>
        </p:nvSpPr>
        <p:spPr>
          <a:xfrm>
            <a:off x="714375" y="3730823"/>
            <a:ext cx="85725" cy="8572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1000125" y="3673673"/>
            <a:ext cx="163513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Agree Pilot Success Criteria</a:t>
            </a:r>
          </a:p>
        </p:txBody>
      </p:sp>
      <p:sp>
        <p:nvSpPr>
          <p:cNvPr id="15" name="Text 12"/>
          <p:cNvSpPr/>
          <p:nvPr/>
        </p:nvSpPr>
        <p:spPr>
          <a:xfrm>
            <a:off x="1000125" y="3943350"/>
            <a:ext cx="36533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Align KPI targets, risk controls, and go/no-go thresholds with Head of Innovation and CTO.</a:t>
            </a:r>
          </a:p>
        </p:txBody>
      </p:sp>
      <p:sp>
        <p:nvSpPr>
          <p:cNvPr id="16" name="Text 13"/>
          <p:cNvSpPr/>
          <p:nvPr/>
        </p:nvSpPr>
        <p:spPr>
          <a:xfrm>
            <a:off x="5803571" y="1985963"/>
            <a:ext cx="262605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Presentation Roles</a:t>
            </a:r>
          </a:p>
        </p:txBody>
      </p:sp>
      <p:sp>
        <p:nvSpPr>
          <p:cNvPr id="17" name="Text 14"/>
          <p:cNvSpPr/>
          <p:nvPr/>
        </p:nvSpPr>
        <p:spPr>
          <a:xfrm>
            <a:off x="5803571" y="2394942"/>
            <a:ext cx="26260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Lead Presenter</a:t>
            </a:r>
          </a:p>
        </p:txBody>
      </p:sp>
      <p:sp>
        <p:nvSpPr>
          <p:cNvPr id="18" name="Text 15"/>
          <p:cNvSpPr/>
          <p:nvPr/>
        </p:nvSpPr>
        <p:spPr>
          <a:xfrm>
            <a:off x="5803571" y="2566392"/>
            <a:ext cx="262605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[Your Name]</a:t>
            </a:r>
          </a:p>
        </p:txBody>
      </p:sp>
      <p:sp>
        <p:nvSpPr>
          <p:cNvPr id="19" name="Text 16"/>
          <p:cNvSpPr/>
          <p:nvPr/>
        </p:nvSpPr>
        <p:spPr>
          <a:xfrm>
            <a:off x="5803571" y="2796778"/>
            <a:ext cx="262605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Business + technical narrative</a:t>
            </a:r>
          </a:p>
        </p:txBody>
      </p:sp>
      <p:sp>
        <p:nvSpPr>
          <p:cNvPr id="20" name="Text 17"/>
          <p:cNvSpPr/>
          <p:nvPr/>
        </p:nvSpPr>
        <p:spPr>
          <a:xfrm>
            <a:off x="5803571" y="3237905"/>
            <a:ext cx="26260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Demo/Q&amp;A Lead</a:t>
            </a:r>
          </a:p>
        </p:txBody>
      </p:sp>
      <p:sp>
        <p:nvSpPr>
          <p:cNvPr id="21" name="Text 18"/>
          <p:cNvSpPr/>
          <p:nvPr/>
        </p:nvSpPr>
        <p:spPr>
          <a:xfrm>
            <a:off x="5803571" y="3409355"/>
            <a:ext cx="262605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[Your Name]</a:t>
            </a:r>
          </a:p>
        </p:txBody>
      </p:sp>
      <p:sp>
        <p:nvSpPr>
          <p:cNvPr id="22" name="Text 19"/>
          <p:cNvSpPr/>
          <p:nvPr/>
        </p:nvSpPr>
        <p:spPr>
          <a:xfrm>
            <a:off x="5803571" y="3639741"/>
            <a:ext cx="262605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t>Architecture, code, and risk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2026-02-06T07:25:17Z</dcterms:created>
  <dcterms:modified xsi:type="dcterms:W3CDTF">2026-02-06T07:25:17Z</dcterms:modified>
</cp:coreProperties>
</file>